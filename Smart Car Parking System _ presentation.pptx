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  <p:sldMasterId id="2147483708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-138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3A5D7D87-F993-401E-958E-E4F9A24D3FC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79B6CF4-F03E-4CE1-9F8C-DAC73280EAC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990600"/>
            <a:ext cx="7772400" cy="1470025"/>
          </a:xfr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anchor="ctr"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Smart Car Parking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62200"/>
            <a:ext cx="6858000" cy="1219200"/>
          </a:xfrm>
        </p:spPr>
        <p:txBody>
          <a:bodyPr anchor="ctr"/>
          <a:lstStyle/>
          <a:p>
            <a:pPr algn="ctr"/>
            <a:r>
              <a:rPr lang="en-US" dirty="0"/>
              <a:t>Automated Detection with Button Confirmation and Time-Limit Alert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447800" y="3886200"/>
            <a:ext cx="6324600" cy="1338828"/>
          </a:xfrm>
          <a:prstGeom prst="rect">
            <a:avLst/>
          </a:prstGeom>
          <a:solidFill>
            <a:srgbClr val="00B0F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PATRICK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Twinamatsiko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 |  VU-BSF-2311-0581-WEE</a:t>
            </a:r>
          </a:p>
          <a:p>
            <a:pPr algn="ctr">
              <a:lnSpc>
                <a:spcPct val="150000"/>
              </a:lnSpc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Robin Percy MUGUNDHO |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VU-BSF-2311-0816-WEE</a:t>
            </a:r>
          </a:p>
          <a:p>
            <a:pPr algn="ctr">
              <a:lnSpc>
                <a:spcPct val="150000"/>
              </a:lnSpc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Derrick AGABA   |  VU-BSF-2403-1356-EVE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81400" y="5715000"/>
            <a:ext cx="2223814" cy="36933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glow" dir="t">
              <a:rot lat="0" lon="0" rev="14100000"/>
            </a:lightRig>
          </a:scene3d>
          <a:sp3d prstMaterial="softEdge">
            <a:bevelT w="127000" prst="artDeco"/>
          </a:sp3d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10-FEBRAURY-2026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84" t="9091" r="3602" b="8172"/>
          <a:stretch/>
        </p:blipFill>
        <p:spPr bwMode="auto">
          <a:xfrm>
            <a:off x="2457734" y="0"/>
            <a:ext cx="3200400" cy="2194244"/>
          </a:xfrm>
          <a:prstGeom prst="rect">
            <a:avLst/>
          </a:prstGeom>
          <a:noFill/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4991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we’ll cover: 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itchFamily="2" charset="2"/>
              <a:buChar char="v"/>
            </a:pPr>
            <a:r>
              <a:rPr lang="en-US" sz="3000" dirty="0"/>
              <a:t>Problem &amp; Objectives</a:t>
            </a:r>
          </a:p>
          <a:p>
            <a:pPr lvl="1">
              <a:buFont typeface="Wingdings" pitchFamily="2" charset="2"/>
              <a:buChar char="v"/>
            </a:pPr>
            <a:r>
              <a:rPr lang="en-US" sz="3000" dirty="0"/>
              <a:t>System Components</a:t>
            </a:r>
          </a:p>
          <a:p>
            <a:pPr lvl="1">
              <a:buFont typeface="Wingdings" pitchFamily="2" charset="2"/>
              <a:buChar char="v"/>
            </a:pPr>
            <a:r>
              <a:rPr lang="en-US" sz="3000" dirty="0"/>
              <a:t>How It Works (Flow)</a:t>
            </a:r>
          </a:p>
          <a:p>
            <a:pPr lvl="1">
              <a:buFont typeface="Wingdings" pitchFamily="2" charset="2"/>
              <a:buChar char="v"/>
            </a:pPr>
            <a:r>
              <a:rPr lang="en-US" sz="3000" dirty="0"/>
              <a:t>Circuit &amp; Code Highlights</a:t>
            </a:r>
          </a:p>
          <a:p>
            <a:pPr lvl="1">
              <a:buFont typeface="Wingdings" pitchFamily="2" charset="2"/>
              <a:buChar char="v"/>
            </a:pPr>
            <a:r>
              <a:rPr lang="en-US" sz="3000" dirty="0" smtClean="0"/>
              <a:t>Demonstration</a:t>
            </a:r>
            <a:endParaRPr lang="en-US" sz="3000" dirty="0"/>
          </a:p>
          <a:p>
            <a:pPr lvl="1">
              <a:buFont typeface="Wingdings" pitchFamily="2" charset="2"/>
              <a:buChar char="v"/>
            </a:pPr>
            <a:r>
              <a:rPr lang="en-US" sz="3000" dirty="0"/>
              <a:t>Conclusion &amp; Future </a:t>
            </a:r>
            <a:r>
              <a:rPr lang="en-US" sz="3000" dirty="0" smtClean="0"/>
              <a:t>Work plan</a:t>
            </a:r>
            <a:endParaRPr lang="en-US" sz="3000" dirty="0"/>
          </a:p>
          <a:p>
            <a:pPr marL="0" lv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Goal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sz="2600" i="1" dirty="0"/>
              <a:t>Show a working single-slot smart parking prototype using </a:t>
            </a:r>
            <a:r>
              <a:rPr lang="en-US" sz="2600" i="1" dirty="0" err="1"/>
              <a:t>Arduino</a:t>
            </a:r>
            <a:endParaRPr lang="en-US" sz="2600" i="1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/>
              <a:t>Overview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539436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>
              <a:buFont typeface="Wingdings" pitchFamily="2" charset="2"/>
              <a:buChar char="v"/>
            </a:pPr>
            <a:r>
              <a:rPr lang="en-US" b="1" dirty="0" smtClean="0"/>
              <a:t>Problem</a:t>
            </a:r>
          </a:p>
          <a:p>
            <a:pPr marL="0" lvl="0" indent="0">
              <a:buNone/>
            </a:pPr>
            <a:r>
              <a:rPr lang="en-US" dirty="0" smtClean="0"/>
              <a:t>Urban </a:t>
            </a:r>
            <a:r>
              <a:rPr lang="en-US" dirty="0"/>
              <a:t>parking chaos time wasted searching, overstaying, inefficient </a:t>
            </a:r>
            <a:r>
              <a:rPr lang="en-US" dirty="0" smtClean="0"/>
              <a:t>use</a:t>
            </a:r>
            <a:endParaRPr lang="en-US" sz="2800" dirty="0" smtClean="0"/>
          </a:p>
          <a:p>
            <a:pPr>
              <a:buFont typeface="Wingdings" pitchFamily="2" charset="2"/>
              <a:buChar char="v"/>
            </a:pPr>
            <a:r>
              <a:rPr lang="en-US" b="1" dirty="0" smtClean="0"/>
              <a:t>Objectives</a:t>
            </a:r>
            <a:endParaRPr lang="en-US" sz="2800" dirty="0"/>
          </a:p>
          <a:p>
            <a:pPr lvl="1">
              <a:buFont typeface="Wingdings" pitchFamily="2" charset="2"/>
              <a:buChar char="ü"/>
            </a:pPr>
            <a:r>
              <a:rPr lang="en-US" dirty="0"/>
              <a:t>Auto-detect vehicle with ultrasonic sensor</a:t>
            </a:r>
            <a:endParaRPr lang="en-US" sz="2400" dirty="0"/>
          </a:p>
          <a:p>
            <a:pPr lvl="1">
              <a:buFont typeface="Wingdings" pitchFamily="2" charset="2"/>
              <a:buChar char="ü"/>
            </a:pPr>
            <a:r>
              <a:rPr lang="en-US" dirty="0"/>
              <a:t>Require button press to confirm </a:t>
            </a:r>
            <a:r>
              <a:rPr lang="en-US" dirty="0" smtClean="0"/>
              <a:t>and </a:t>
            </a:r>
            <a:r>
              <a:rPr lang="en-US" dirty="0"/>
              <a:t>start </a:t>
            </a:r>
            <a:r>
              <a:rPr lang="en-US" dirty="0" smtClean="0"/>
              <a:t>timer.</a:t>
            </a:r>
            <a:endParaRPr lang="en-US" sz="2400" dirty="0"/>
          </a:p>
          <a:p>
            <a:pPr lvl="1">
              <a:buFont typeface="Wingdings" pitchFamily="2" charset="2"/>
              <a:buChar char="ü"/>
            </a:pPr>
            <a:r>
              <a:rPr lang="en-US" dirty="0"/>
              <a:t>Display status + timer on LCD</a:t>
            </a:r>
            <a:endParaRPr lang="en-US" sz="2400" dirty="0"/>
          </a:p>
          <a:p>
            <a:pPr lvl="1">
              <a:buFont typeface="Wingdings" pitchFamily="2" charset="2"/>
              <a:buChar char="ü"/>
            </a:pPr>
            <a:r>
              <a:rPr lang="en-US" dirty="0"/>
              <a:t>Alert (LED + buzzer) if time exceeds limit (demo: 10s)</a:t>
            </a:r>
            <a:endParaRPr lang="en-US" sz="2400" dirty="0"/>
          </a:p>
          <a:p>
            <a:pPr lvl="1">
              <a:buFont typeface="Wingdings" pitchFamily="2" charset="2"/>
              <a:buChar char="ü"/>
            </a:pPr>
            <a:r>
              <a:rPr lang="en-US" dirty="0"/>
              <a:t>Allow checkout &amp; handle car leaving without button</a:t>
            </a:r>
            <a:endParaRPr lang="en-US" sz="2400" dirty="0"/>
          </a:p>
          <a:p>
            <a:pPr lvl="0">
              <a:buFont typeface="Wingdings" pitchFamily="2" charset="2"/>
              <a:buChar char="v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Benefits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Low-cost, user-intent focused, educational </a:t>
            </a:r>
            <a:r>
              <a:rPr lang="en-US" dirty="0" smtClean="0">
                <a:solidFill>
                  <a:schemeClr val="accent3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prototype</a:t>
            </a:r>
            <a:endParaRPr lang="en-US" sz="2800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Problem Statement And Objectives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3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997958"/>
            <a:ext cx="4305064" cy="3860042"/>
          </a:xfrm>
          <a:prstGeom prst="rect">
            <a:avLst/>
          </a:prstGeom>
          <a:ln w="3492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System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493837"/>
            <a:ext cx="8229600" cy="4525963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US" sz="2000" b="1" dirty="0" smtClean="0"/>
              <a:t>Hardware</a:t>
            </a:r>
            <a:endParaRPr lang="en-US" sz="2000" dirty="0"/>
          </a:p>
          <a:p>
            <a:pPr lvl="1">
              <a:buFont typeface="Wingdings" pitchFamily="2" charset="2"/>
              <a:buChar char="ü"/>
            </a:pPr>
            <a:r>
              <a:rPr lang="en-US" sz="2000" dirty="0" err="1"/>
              <a:t>Arduino</a:t>
            </a:r>
            <a:r>
              <a:rPr lang="en-US" sz="2000" dirty="0"/>
              <a:t> UNO (brain)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HC-SR04 Ultrasonic Sensor (distance detection)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16×2 LCD (status messages)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Push Button (confirmation/checkout)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LEDs: Green (free), Yellow (alert), Red (occupied)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Buzzer (beeps &amp; alerts)</a:t>
            </a:r>
          </a:p>
          <a:p>
            <a:pPr lvl="1">
              <a:buFont typeface="Wingdings" pitchFamily="2" charset="2"/>
              <a:buChar char="ü"/>
            </a:pPr>
            <a:r>
              <a:rPr lang="en-US" sz="2000" dirty="0"/>
              <a:t>Breadboard + wires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653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1" r="3881"/>
          <a:stretch/>
        </p:blipFill>
        <p:spPr>
          <a:xfrm>
            <a:off x="4495800" y="3483735"/>
            <a:ext cx="4572000" cy="337426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Circuit Connections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229600" cy="39624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200" b="1" dirty="0" smtClean="0"/>
              <a:t>Key </a:t>
            </a:r>
            <a:r>
              <a:rPr lang="en-US" sz="2200" b="1" dirty="0"/>
              <a:t>Pins </a:t>
            </a:r>
            <a:endParaRPr lang="en-US" sz="2200" b="1" dirty="0" smtClean="0"/>
          </a:p>
          <a:p>
            <a:pPr marL="0" lvl="0" indent="0">
              <a:buNone/>
            </a:pPr>
            <a:r>
              <a:rPr lang="en-US" sz="2200" dirty="0" smtClean="0"/>
              <a:t>Ultrasonic</a:t>
            </a:r>
            <a:r>
              <a:rPr lang="en-US" sz="2200" dirty="0"/>
              <a:t>: Trig → 9, Echo → </a:t>
            </a:r>
            <a:r>
              <a:rPr lang="en-US" sz="2200" dirty="0" smtClean="0"/>
              <a:t>10</a:t>
            </a:r>
          </a:p>
          <a:p>
            <a:pPr marL="0" lvl="0" indent="0">
              <a:buNone/>
            </a:pPr>
            <a:r>
              <a:rPr lang="en-US" sz="2200" dirty="0" smtClean="0"/>
              <a:t>LEDs</a:t>
            </a:r>
            <a:r>
              <a:rPr lang="en-US" sz="2200" dirty="0"/>
              <a:t>: Green → 2, Yellow → 3, Red → </a:t>
            </a:r>
            <a:r>
              <a:rPr lang="en-US" sz="2200" dirty="0" smtClean="0"/>
              <a:t>4</a:t>
            </a:r>
          </a:p>
          <a:p>
            <a:pPr marL="0" lvl="0" indent="0">
              <a:buNone/>
            </a:pPr>
            <a:r>
              <a:rPr lang="en-US" sz="2200" dirty="0" smtClean="0"/>
              <a:t>Button </a:t>
            </a:r>
            <a:r>
              <a:rPr lang="en-US" sz="2200" dirty="0"/>
              <a:t>→ 7 (</a:t>
            </a:r>
            <a:r>
              <a:rPr lang="en-US" sz="2200" dirty="0" smtClean="0"/>
              <a:t>INPUT_PULLUP)</a:t>
            </a:r>
          </a:p>
          <a:p>
            <a:pPr marL="0" lvl="0" indent="0">
              <a:buNone/>
            </a:pPr>
            <a:r>
              <a:rPr lang="en-US" sz="2200" dirty="0" smtClean="0"/>
              <a:t>Buzzer </a:t>
            </a:r>
            <a:r>
              <a:rPr lang="en-US" sz="2200" dirty="0"/>
              <a:t>→ </a:t>
            </a:r>
            <a:r>
              <a:rPr lang="en-US" sz="2200" dirty="0" smtClean="0"/>
              <a:t>8</a:t>
            </a:r>
          </a:p>
          <a:p>
            <a:pPr marL="0" lvl="0" indent="0">
              <a:buNone/>
            </a:pPr>
            <a:r>
              <a:rPr lang="en-US" sz="2200" dirty="0" smtClean="0"/>
              <a:t>LCD</a:t>
            </a:r>
            <a:r>
              <a:rPr lang="en-US" sz="2200" dirty="0"/>
              <a:t>: RS=12, E=11, D4=5, D5=4, D6=3, </a:t>
            </a:r>
            <a:r>
              <a:rPr lang="en-US" sz="2200" dirty="0" smtClean="0"/>
              <a:t>D7=2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653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Working Principle or Flowchart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371600"/>
            <a:ext cx="8229600" cy="4495800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b="1" dirty="0" smtClean="0"/>
              <a:t>States</a:t>
            </a:r>
            <a:r>
              <a:rPr lang="en-US" sz="2000" dirty="0"/>
              <a:t>: 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/>
              <a:t>Free → Green LED, </a:t>
            </a:r>
            <a:r>
              <a:rPr lang="en-US" sz="2000" dirty="0" smtClean="0"/>
              <a:t>“FREE” </a:t>
            </a:r>
            <a:r>
              <a:rPr lang="en-US" sz="2000" dirty="0"/>
              <a:t>on LCD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/>
              <a:t>Car Detected (&lt;15 cm) → Buzzer beep, “Car Detected! Press to Start”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/>
              <a:t>Confirmed (button press) → Red LED, timer starts, “Slot: OCCUPIED”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/>
              <a:t>Time exceeded (&gt;10s) → Yellow blink + buzzer pattern, “ALERT! TIME EXCEEDED!”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000" dirty="0"/>
              <a:t>Checkout (button) → Reset to free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b="1" dirty="0"/>
              <a:t>Flow</a:t>
            </a:r>
            <a:r>
              <a:rPr lang="en-US" sz="2000" dirty="0"/>
              <a:t>: Measure distance → Detect? → Button? → Timer → Alert if over → </a:t>
            </a:r>
            <a:r>
              <a:rPr lang="en-US" sz="2000" dirty="0" smtClean="0"/>
              <a:t>Checkout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653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143000"/>
            <a:ext cx="3810000" cy="571500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Working Principle or Flowchart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3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520" y="3276600"/>
            <a:ext cx="3840480" cy="3608961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Key Code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>
              <a:buFont typeface="Wingdings" pitchFamily="2" charset="2"/>
              <a:buChar char="v"/>
            </a:pPr>
            <a:r>
              <a:rPr lang="en-US" sz="2400" dirty="0" smtClean="0"/>
              <a:t>Non-blocking </a:t>
            </a:r>
            <a:r>
              <a:rPr lang="en-US" sz="2400" dirty="0"/>
              <a:t>with </a:t>
            </a:r>
            <a:r>
              <a:rPr lang="en-US" sz="2400" dirty="0" err="1"/>
              <a:t>millis</a:t>
            </a:r>
            <a:r>
              <a:rPr lang="en-US" sz="2400" dirty="0"/>
              <a:t>() for timer</a:t>
            </a:r>
          </a:p>
          <a:p>
            <a:pPr lvl="0">
              <a:buFont typeface="Wingdings" pitchFamily="2" charset="2"/>
              <a:buChar char="v"/>
            </a:pPr>
            <a:r>
              <a:rPr lang="en-US" sz="2400" dirty="0"/>
              <a:t>Button </a:t>
            </a:r>
            <a:r>
              <a:rPr lang="en-US" sz="2400" dirty="0" err="1"/>
              <a:t>debouncing</a:t>
            </a:r>
            <a:endParaRPr lang="en-US" sz="2400" dirty="0"/>
          </a:p>
          <a:p>
            <a:pPr lvl="0">
              <a:buFont typeface="Wingdings" pitchFamily="2" charset="2"/>
              <a:buChar char="v"/>
            </a:pPr>
            <a:r>
              <a:rPr lang="en-US" sz="2400" dirty="0"/>
              <a:t>Separate flags: </a:t>
            </a:r>
            <a:r>
              <a:rPr lang="en-US" sz="2400" dirty="0" err="1"/>
              <a:t>carDetected</a:t>
            </a:r>
            <a:r>
              <a:rPr lang="en-US" sz="2400" dirty="0"/>
              <a:t> </a:t>
            </a:r>
            <a:r>
              <a:rPr lang="en-US" sz="2400" dirty="0" err="1"/>
              <a:t>vs</a:t>
            </a:r>
            <a:r>
              <a:rPr lang="en-US" sz="2400" dirty="0"/>
              <a:t> </a:t>
            </a:r>
            <a:r>
              <a:rPr lang="en-US" sz="2400" dirty="0" err="1"/>
              <a:t>slotOccupied</a:t>
            </a:r>
            <a:endParaRPr lang="en-US" sz="2400" dirty="0"/>
          </a:p>
          <a:p>
            <a:pPr lvl="0">
              <a:buFont typeface="Wingdings" pitchFamily="2" charset="2"/>
              <a:buChar char="v"/>
            </a:pPr>
            <a:r>
              <a:rPr lang="en-US" sz="2400" dirty="0"/>
              <a:t>Custom alert: </a:t>
            </a:r>
            <a:r>
              <a:rPr lang="en-US" sz="2400" dirty="0" err="1"/>
              <a:t>blinkYellowLED</a:t>
            </a:r>
            <a:r>
              <a:rPr lang="en-US" sz="2400" dirty="0"/>
              <a:t>() + </a:t>
            </a:r>
            <a:r>
              <a:rPr lang="en-US" sz="2400" dirty="0" err="1"/>
              <a:t>buzzerAlertPattern</a:t>
            </a:r>
            <a:r>
              <a:rPr lang="en-US" sz="2400" dirty="0"/>
              <a:t>()</a:t>
            </a:r>
          </a:p>
          <a:p>
            <a:pPr lvl="0">
              <a:buFont typeface="Wingdings" pitchFamily="2" charset="2"/>
              <a:buChar char="v"/>
            </a:pPr>
            <a:r>
              <a:rPr lang="en-US" sz="2400" dirty="0"/>
              <a:t>Distance function with timeout</a:t>
            </a:r>
          </a:p>
          <a:p>
            <a:pPr lvl="0">
              <a:buFont typeface="Wingdings" pitchFamily="2" charset="2"/>
              <a:buChar char="v"/>
            </a:pPr>
            <a:r>
              <a:rPr lang="en-US" sz="2400" dirty="0" smtClean="0"/>
              <a:t>Full </a:t>
            </a:r>
            <a:r>
              <a:rPr lang="en-US" sz="2400" dirty="0"/>
              <a:t>code available in </a:t>
            </a:r>
            <a:r>
              <a:rPr lang="en-US" sz="2400" dirty="0" smtClean="0"/>
              <a:t>submission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653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4462" y="2690298"/>
            <a:ext cx="4563338" cy="409150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4114800" cy="1143000"/>
          </a:xfrm>
        </p:spPr>
        <p:txBody>
          <a:bodyPr anchor="ctr">
            <a:normAutofit/>
          </a:bodyPr>
          <a:lstStyle/>
          <a:p>
            <a:r>
              <a:rPr lang="en-US" b="1" dirty="0" smtClean="0"/>
              <a:t>Demonstration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2192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Tested </a:t>
            </a:r>
            <a:r>
              <a:rPr lang="en-US" b="1" dirty="0"/>
              <a:t>States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sz="2000" dirty="0" smtClean="0"/>
              <a:t>Free</a:t>
            </a:r>
            <a:r>
              <a:rPr lang="en-US" sz="2000" dirty="0"/>
              <a:t>: Distance 103.3 cm → </a:t>
            </a:r>
            <a:r>
              <a:rPr lang="en-US" sz="2000" dirty="0" smtClean="0"/>
              <a:t>“FREE ” </a:t>
            </a:r>
            <a:r>
              <a:rPr lang="en-US" sz="2000" i="1" dirty="0"/>
              <a:t>(your screenshot)</a:t>
            </a:r>
            <a:endParaRPr lang="en-US" sz="2000" dirty="0"/>
          </a:p>
          <a:p>
            <a:pPr lvl="1"/>
            <a:r>
              <a:rPr lang="en-US" sz="2000" dirty="0"/>
              <a:t>Detected: &lt;15 cm → “Press to Start”</a:t>
            </a:r>
          </a:p>
          <a:p>
            <a:pPr lvl="1"/>
            <a:r>
              <a:rPr lang="en-US" sz="2000" dirty="0"/>
              <a:t>Occupied: Timer running, red LED</a:t>
            </a:r>
          </a:p>
          <a:p>
            <a:pPr lvl="1"/>
            <a:r>
              <a:rPr lang="en-US" sz="2000" dirty="0"/>
              <a:t>Alert: After 10s → blinking + buzzer</a:t>
            </a:r>
          </a:p>
          <a:p>
            <a:pPr lvl="1"/>
            <a:r>
              <a:rPr lang="en-US" sz="2000" dirty="0"/>
              <a:t>Checkout: Back to free</a:t>
            </a:r>
          </a:p>
          <a:p>
            <a:pPr lvl="0"/>
            <a:r>
              <a:rPr lang="en-US" sz="2000" dirty="0"/>
              <a:t>Reliable detection, button prevents accidents, alerts noticeable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3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Demonstration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943" y="1295400"/>
            <a:ext cx="5846857" cy="5242307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536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3507" y="3566160"/>
            <a:ext cx="4389120" cy="3291840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229600" cy="487680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 smtClean="0"/>
              <a:t>Successfully </a:t>
            </a:r>
            <a:r>
              <a:rPr lang="en-US" dirty="0"/>
              <a:t>built a smart parking prototype with: </a:t>
            </a:r>
            <a:endParaRPr lang="en-US" sz="2800" dirty="0"/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/>
              <a:t>Auto-detection + user confirmation</a:t>
            </a:r>
            <a:endParaRPr lang="en-US" sz="2400" dirty="0"/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/>
              <a:t>Timed parking &amp; overtime alert</a:t>
            </a:r>
            <a:endParaRPr lang="en-US" sz="2400" dirty="0"/>
          </a:p>
          <a:p>
            <a:pPr lvl="1"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/>
              <a:t>Clear feedback (LCD, LEDs, buzzer)</a:t>
            </a:r>
            <a:endParaRPr lang="en-US" sz="2400" dirty="0"/>
          </a:p>
          <a:p>
            <a:pPr lvl="0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Proves concept for real-world parking aids</a:t>
            </a:r>
            <a:endParaRPr lang="en-US" sz="2800" dirty="0"/>
          </a:p>
          <a:p>
            <a:pPr lvl="0">
              <a:lnSpc>
                <a:spcPct val="150000"/>
              </a:lnSpc>
              <a:buFont typeface="Wingdings" pitchFamily="2" charset="2"/>
              <a:buChar char="v"/>
            </a:pPr>
            <a:r>
              <a:rPr lang="en-US" dirty="0"/>
              <a:t>Low-cost, easy to </a:t>
            </a:r>
            <a:r>
              <a:rPr lang="en-US" dirty="0" smtClean="0"/>
              <a:t>build and expand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6536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smtClean="0"/>
              <a:t>Future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smtClean="0"/>
              <a:t>Multiple </a:t>
            </a:r>
            <a:r>
              <a:rPr lang="en-US" dirty="0"/>
              <a:t>slots (add more sensors)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/>
              <a:t>Servo gate for auto entry/exit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 err="1"/>
              <a:t>IoT</a:t>
            </a:r>
            <a:r>
              <a:rPr lang="en-US" dirty="0"/>
              <a:t>: ESP8266/ESP32 + app notifications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/>
              <a:t>Real timer (minutes/hours) + billing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/>
              <a:t>Better sensors (IR/camera) for accuracy</a:t>
            </a:r>
          </a:p>
          <a:p>
            <a:pPr>
              <a:lnSpc>
                <a:spcPct val="150000"/>
              </a:lnSpc>
              <a:buFont typeface="Wingdings" pitchFamily="2" charset="2"/>
              <a:buChar char="ü"/>
            </a:pPr>
            <a:r>
              <a:rPr lang="en-US" dirty="0"/>
              <a:t>Cloud logging </a:t>
            </a:r>
            <a:r>
              <a:rPr lang="en-US" dirty="0" smtClean="0"/>
              <a:t>like, </a:t>
            </a:r>
            <a:r>
              <a:rPr lang="en-US" dirty="0" err="1" smtClean="0"/>
              <a:t>ThingSpeak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3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00B0F0"/>
          </a:solidFill>
          <a:ln w="34925">
            <a:solidFill>
              <a:srgbClr val="FFFFFF"/>
            </a:solidFill>
          </a:ln>
          <a:effectLst>
            <a:outerShdw blurRad="317500" dir="2700000" algn="ctr">
              <a:srgbClr val="000000">
                <a:alpha val="43000"/>
              </a:srgbClr>
            </a:outerShdw>
          </a:effectLst>
          <a:scene3d>
            <a:camera prst="perspectiveFront" fov="2700000">
              <a:rot lat="19086000" lon="19067999" rev="3108000"/>
            </a:camera>
            <a:lightRig rig="threePt" dir="t">
              <a:rot lat="0" lon="0" rev="0"/>
            </a:lightRig>
          </a:scene3d>
          <a:sp3d extrusionH="38100" prstMaterial="clear">
            <a:bevelT w="260350" h="50800" prst="softRound"/>
            <a:bevelB prst="softRound"/>
          </a:sp3d>
        </p:spPr>
        <p:txBody>
          <a:bodyPr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Questions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you!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Q&amp;A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653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rdcover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Hardcover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Hardcover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djacenc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larity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505</Words>
  <Application>Microsoft Office PowerPoint</Application>
  <PresentationFormat>On-screen Show (4:3)</PresentationFormat>
  <Paragraphs>83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5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Flow</vt:lpstr>
      <vt:lpstr>Hardcover</vt:lpstr>
      <vt:lpstr>Adjacency</vt:lpstr>
      <vt:lpstr>Equity</vt:lpstr>
      <vt:lpstr>Clarity</vt:lpstr>
      <vt:lpstr>Smart Car Parking System</vt:lpstr>
      <vt:lpstr>Overview</vt:lpstr>
      <vt:lpstr>Problem Statement And Objectives</vt:lpstr>
      <vt:lpstr>System Components</vt:lpstr>
      <vt:lpstr>Circuit Connections</vt:lpstr>
      <vt:lpstr>Working Principle or Flowchart</vt:lpstr>
      <vt:lpstr>Working Principle or Flowchart</vt:lpstr>
      <vt:lpstr>Key Code Features</vt:lpstr>
      <vt:lpstr>Demonstration </vt:lpstr>
      <vt:lpstr>Demonstration</vt:lpstr>
      <vt:lpstr>Conclusion</vt:lpstr>
      <vt:lpstr>Future Improvements</vt:lpstr>
      <vt:lpstr>Q&amp;A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Car Parking System</dc:title>
  <dc:creator>RABEC INTERNATIONAL</dc:creator>
  <cp:lastModifiedBy>RABEC INTERNATIONAL</cp:lastModifiedBy>
  <cp:revision>9</cp:revision>
  <dcterms:created xsi:type="dcterms:W3CDTF">2026-02-10T10:01:56Z</dcterms:created>
  <dcterms:modified xsi:type="dcterms:W3CDTF">2026-02-10T11:21:24Z</dcterms:modified>
</cp:coreProperties>
</file>